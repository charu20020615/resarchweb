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70" r:id="rId6"/>
    <p:sldId id="261" r:id="rId7"/>
    <p:sldId id="266" r:id="rId8"/>
    <p:sldId id="267" r:id="rId9"/>
    <p:sldId id="269" r:id="rId10"/>
    <p:sldId id="263" r:id="rId11"/>
    <p:sldId id="264" r:id="rId12"/>
    <p:sldId id="268" r:id="rId13"/>
    <p:sldId id="265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7" d="100"/>
          <a:sy n="47" d="100"/>
        </p:scale>
        <p:origin x="418" y="49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FD285-EABE-4116-BBB6-D6B0DA6C33FC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20085-B37D-4779-8899-2EFA16BC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5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20085-B37D-4779-8899-2EFA16BCA4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5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20085-B37D-4779-8899-2EFA16BCA4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6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4434"/>
            <a:ext cx="3933824" cy="7425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1482" y="2269004"/>
            <a:ext cx="14620872" cy="6191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437150"/>
            <a:ext cx="1265872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1A401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70" dirty="0"/>
              <a:t>25-26J-</a:t>
            </a:r>
            <a:r>
              <a:rPr spc="-25" dirty="0"/>
              <a:t>266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10" dirty="0"/>
              <a:t>3/9/2026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33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1A401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70" dirty="0"/>
              <a:t>25-26J-</a:t>
            </a:r>
            <a:r>
              <a:rPr spc="-25" dirty="0"/>
              <a:t>266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10" dirty="0"/>
              <a:t>3/9/2026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33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1A401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70" dirty="0"/>
              <a:t>25-26J-</a:t>
            </a:r>
            <a:r>
              <a:rPr spc="-25" dirty="0"/>
              <a:t>266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10" dirty="0"/>
              <a:t>3/9/2026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33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4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6536"/>
            <a:ext cx="4296279" cy="785046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1718" y="0"/>
            <a:ext cx="4706280" cy="56266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1A401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70" dirty="0"/>
              <a:t>25-26J-</a:t>
            </a:r>
            <a:r>
              <a:rPr spc="-25" dirty="0"/>
              <a:t>266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10" dirty="0"/>
              <a:t>3/9/2026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33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70" dirty="0"/>
              <a:t>25-26J-</a:t>
            </a:r>
            <a:r>
              <a:rPr spc="-25" dirty="0"/>
              <a:t>266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10" dirty="0"/>
              <a:t>3/9/2026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33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7552">
              <a:srgbClr val="006600">
                <a:tint val="23500"/>
                <a:satMod val="160000"/>
              </a:srgbClr>
            </a:gs>
            <a:gs pos="18000">
              <a:srgbClr val="006600">
                <a:tint val="44500"/>
                <a:satMod val="160000"/>
              </a:srgbClr>
            </a:gs>
            <a:gs pos="33000">
              <a:srgbClr val="006600">
                <a:tint val="23500"/>
                <a:satMod val="160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2869" y="306229"/>
            <a:ext cx="12773280" cy="11283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1A401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85" y="1956775"/>
            <a:ext cx="11103610" cy="5765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55327" y="9680400"/>
            <a:ext cx="1734820" cy="44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70" dirty="0"/>
              <a:t>25-26J-</a:t>
            </a:r>
            <a:r>
              <a:rPr spc="-25" dirty="0"/>
              <a:t>266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938946" y="9664865"/>
            <a:ext cx="1380490" cy="44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375"/>
              </a:lnSpc>
            </a:pPr>
            <a:r>
              <a:rPr spc="-10" dirty="0"/>
              <a:t>3/9/2026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744578" y="9664865"/>
            <a:ext cx="279400" cy="44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C210E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337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6.svg"/><Relationship Id="rId7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g"/><Relationship Id="rId5" Type="http://schemas.openxmlformats.org/officeDocument/2006/relationships/image" Target="../media/image7.jp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4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DBB343-075B-FDA2-CC59-307645808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283088" y="1257182"/>
            <a:ext cx="44411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980" dirty="0"/>
              <a:t>Our</a:t>
            </a:r>
            <a:r>
              <a:rPr sz="6000" spc="15" dirty="0"/>
              <a:t> </a:t>
            </a:r>
            <a:r>
              <a:rPr sz="6000" spc="560" dirty="0"/>
              <a:t>Team</a:t>
            </a:r>
            <a:endParaRPr sz="6000"/>
          </a:p>
        </p:txBody>
      </p:sp>
      <p:sp>
        <p:nvSpPr>
          <p:cNvPr id="11" name="object 11"/>
          <p:cNvSpPr txBox="1"/>
          <p:nvPr/>
        </p:nvSpPr>
        <p:spPr>
          <a:xfrm>
            <a:off x="13171144" y="3969216"/>
            <a:ext cx="2933065" cy="756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algn="ctr">
              <a:lnSpc>
                <a:spcPts val="2925"/>
              </a:lnSpc>
              <a:spcBef>
                <a:spcPts val="100"/>
              </a:spcBef>
            </a:pPr>
            <a:r>
              <a:rPr sz="2500" spc="-10" dirty="0">
                <a:latin typeface="Cambria"/>
                <a:cs typeface="Cambria"/>
              </a:rPr>
              <a:t>IT222</a:t>
            </a:r>
            <a:r>
              <a:rPr lang="en-US" sz="2500" spc="-10" dirty="0">
                <a:latin typeface="Cambria"/>
                <a:cs typeface="Cambria"/>
              </a:rPr>
              <a:t>00006</a:t>
            </a:r>
            <a:endParaRPr sz="2500" dirty="0">
              <a:latin typeface="Cambria"/>
              <a:cs typeface="Cambria"/>
            </a:endParaRPr>
          </a:p>
          <a:p>
            <a:pPr marL="12700" algn="ctr">
              <a:lnSpc>
                <a:spcPts val="2925"/>
              </a:lnSpc>
            </a:pPr>
            <a:r>
              <a:rPr lang="en-US" sz="2500" b="1" spc="-20" dirty="0">
                <a:latin typeface="Cambria"/>
                <a:cs typeface="Cambria"/>
              </a:rPr>
              <a:t>Edirisinghe E.A.C.S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06749" y="3862159"/>
            <a:ext cx="2933065" cy="769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925"/>
              </a:lnSpc>
              <a:spcBef>
                <a:spcPts val="100"/>
              </a:spcBef>
            </a:pPr>
            <a:r>
              <a:rPr sz="2500" spc="-10" dirty="0">
                <a:latin typeface="Cambria"/>
                <a:cs typeface="Cambria"/>
              </a:rPr>
              <a:t>IT22</a:t>
            </a:r>
            <a:r>
              <a:rPr lang="en-US" sz="2500" spc="-10" dirty="0">
                <a:latin typeface="Cambria"/>
                <a:cs typeface="Cambria"/>
              </a:rPr>
              <a:t>194312</a:t>
            </a:r>
            <a:endParaRPr sz="2500" dirty="0">
              <a:latin typeface="Cambria"/>
              <a:cs typeface="Cambria"/>
            </a:endParaRPr>
          </a:p>
          <a:p>
            <a:pPr marL="12700" marR="5080" algn="ctr">
              <a:lnSpc>
                <a:spcPts val="2850"/>
              </a:lnSpc>
              <a:spcBef>
                <a:spcPts val="145"/>
              </a:spcBef>
            </a:pPr>
            <a:r>
              <a:rPr lang="en-US" sz="2500" b="1" spc="-30" dirty="0">
                <a:latin typeface="Cambria"/>
                <a:cs typeface="Cambria"/>
              </a:rPr>
              <a:t>Ranaweera K.U.I.C</a:t>
            </a:r>
            <a:r>
              <a:rPr sz="2500" b="1" spc="-40" dirty="0">
                <a:latin typeface="Cambria"/>
                <a:cs typeface="Cambria"/>
              </a:rPr>
              <a:t> </a:t>
            </a:r>
            <a:endParaRPr sz="250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6920" y="8443943"/>
            <a:ext cx="342392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 algn="ctr">
              <a:lnSpc>
                <a:spcPts val="2925"/>
              </a:lnSpc>
              <a:spcBef>
                <a:spcPts val="100"/>
              </a:spcBef>
            </a:pPr>
            <a:r>
              <a:rPr sz="2500" spc="-10" dirty="0">
                <a:latin typeface="Cambria"/>
                <a:cs typeface="Cambria"/>
              </a:rPr>
              <a:t>IT22</a:t>
            </a:r>
            <a:r>
              <a:rPr lang="en-US" sz="2500" spc="-10" dirty="0">
                <a:latin typeface="Cambria"/>
                <a:cs typeface="Cambria"/>
              </a:rPr>
              <a:t>262318</a:t>
            </a:r>
            <a:endParaRPr sz="2500" dirty="0">
              <a:latin typeface="Cambria"/>
              <a:cs typeface="Cambria"/>
            </a:endParaRPr>
          </a:p>
          <a:p>
            <a:pPr algn="ctr">
              <a:lnSpc>
                <a:spcPts val="2925"/>
              </a:lnSpc>
            </a:pPr>
            <a:r>
              <a:rPr lang="en-US" sz="2500" b="1" dirty="0">
                <a:latin typeface="Cambria"/>
                <a:cs typeface="Cambria"/>
              </a:rPr>
              <a:t>Ranasinghe M.J.N</a:t>
            </a:r>
            <a:endParaRPr sz="2500" dirty="0">
              <a:latin typeface="Cambria"/>
              <a:cs typeface="Cambr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269887" y="8424893"/>
            <a:ext cx="273558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925"/>
              </a:lnSpc>
              <a:spcBef>
                <a:spcPts val="100"/>
              </a:spcBef>
            </a:pPr>
            <a:r>
              <a:rPr sz="2500" spc="-10" dirty="0">
                <a:latin typeface="Cambria"/>
                <a:cs typeface="Cambria"/>
              </a:rPr>
              <a:t>IT222</a:t>
            </a:r>
            <a:r>
              <a:rPr lang="en-US" sz="2500" spc="-10" dirty="0">
                <a:latin typeface="Cambria"/>
                <a:cs typeface="Cambria"/>
              </a:rPr>
              <a:t>96214</a:t>
            </a:r>
            <a:endParaRPr sz="2500" dirty="0">
              <a:latin typeface="Cambria"/>
              <a:cs typeface="Cambria"/>
            </a:endParaRPr>
          </a:p>
          <a:p>
            <a:pPr algn="ctr">
              <a:lnSpc>
                <a:spcPts val="2925"/>
              </a:lnSpc>
            </a:pPr>
            <a:r>
              <a:rPr lang="en-US" sz="2500" b="1" dirty="0">
                <a:latin typeface="Cambria"/>
                <a:cs typeface="Cambria"/>
              </a:rPr>
              <a:t>Herath H.M.A.M</a:t>
            </a:r>
            <a:endParaRPr sz="2500" dirty="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375"/>
              </a:lnSpc>
            </a:pPr>
            <a:r>
              <a:rPr spc="-50" dirty="0"/>
              <a:t>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CDA0D1B6-132B-7B92-34F0-13982515F2C0}"/>
              </a:ext>
            </a:extLst>
          </p:cNvPr>
          <p:cNvSpPr/>
          <p:nvPr/>
        </p:nvSpPr>
        <p:spPr>
          <a:xfrm>
            <a:off x="7467600" y="865648"/>
            <a:ext cx="3025743" cy="2980766"/>
          </a:xfrm>
          <a:prstGeom prst="flowChartConnector">
            <a:avLst/>
          </a:prstGeom>
          <a:blipFill>
            <a:blip r:embed="rId6"/>
            <a:stretch>
              <a:fillRect b="-470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9">
            <a:extLst>
              <a:ext uri="{FF2B5EF4-FFF2-40B4-BE49-F238E27FC236}">
                <a16:creationId xmlns:a16="http://schemas.microsoft.com/office/drawing/2014/main" id="{65DCD992-67E1-C17F-A503-37AC851B5DC9}"/>
              </a:ext>
            </a:extLst>
          </p:cNvPr>
          <p:cNvGrpSpPr/>
          <p:nvPr/>
        </p:nvGrpSpPr>
        <p:grpSpPr>
          <a:xfrm>
            <a:off x="13030200" y="865648"/>
            <a:ext cx="3265538" cy="3092554"/>
            <a:chOff x="0" y="0"/>
            <a:chExt cx="812800" cy="812800"/>
          </a:xfrm>
        </p:grpSpPr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4D83BDDC-6705-C2E3-417E-8B31A37E15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prstGeom prst="flowChartConnector">
              <a:avLst/>
            </a:prstGeom>
            <a:blipFill>
              <a:blip r:embed="rId7"/>
              <a:stretch>
                <a:fillRect t="-15200" b="-152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9">
            <a:extLst>
              <a:ext uri="{FF2B5EF4-FFF2-40B4-BE49-F238E27FC236}">
                <a16:creationId xmlns:a16="http://schemas.microsoft.com/office/drawing/2014/main" id="{F265A24A-427F-CB70-4B70-ADCB40DD15F9}"/>
              </a:ext>
            </a:extLst>
          </p:cNvPr>
          <p:cNvGrpSpPr/>
          <p:nvPr/>
        </p:nvGrpSpPr>
        <p:grpSpPr>
          <a:xfrm>
            <a:off x="7613338" y="5295915"/>
            <a:ext cx="3061325" cy="3021912"/>
            <a:chOff x="0" y="0"/>
            <a:chExt cx="812800" cy="812800"/>
          </a:xfrm>
        </p:grpSpPr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8008242-9B77-7596-A656-128997EC4D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prstGeom prst="flowChartConnector">
              <a:avLst/>
            </a:prstGeom>
            <a:blipFill>
              <a:blip r:embed="rId8"/>
              <a:stretch>
                <a:fillRect l="-4133" r="-41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9">
            <a:extLst>
              <a:ext uri="{FF2B5EF4-FFF2-40B4-BE49-F238E27FC236}">
                <a16:creationId xmlns:a16="http://schemas.microsoft.com/office/drawing/2014/main" id="{82C6D8DA-CBC6-2834-A1B1-B51FDFD3C32A}"/>
              </a:ext>
            </a:extLst>
          </p:cNvPr>
          <p:cNvGrpSpPr/>
          <p:nvPr/>
        </p:nvGrpSpPr>
        <p:grpSpPr>
          <a:xfrm>
            <a:off x="13156575" y="5321314"/>
            <a:ext cx="3074025" cy="3021913"/>
            <a:chOff x="0" y="0"/>
            <a:chExt cx="812800" cy="812800"/>
          </a:xfrm>
        </p:grpSpPr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8B8F47-18F7-D533-4EDA-48788401F12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prstGeom prst="flowChartConnector">
              <a:avLst/>
            </a:pr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30EA265-BDD0-C37A-DA85-53CFE60BC6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73" y="284065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object 2">
            <a:extLst>
              <a:ext uri="{FF2B5EF4-FFF2-40B4-BE49-F238E27FC236}">
                <a16:creationId xmlns:a16="http://schemas.microsoft.com/office/drawing/2014/main" id="{EA3A5609-F6D8-2461-7F4E-EE054A7706D1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32" name="object 3">
              <a:extLst>
                <a:ext uri="{FF2B5EF4-FFF2-40B4-BE49-F238E27FC236}">
                  <a16:creationId xmlns:a16="http://schemas.microsoft.com/office/drawing/2014/main" id="{739EBA13-F0BF-478D-D202-ED446A1C8B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33" name="object 4">
              <a:extLst>
                <a:ext uri="{FF2B5EF4-FFF2-40B4-BE49-F238E27FC236}">
                  <a16:creationId xmlns:a16="http://schemas.microsoft.com/office/drawing/2014/main" id="{D14A86D3-B269-663C-3678-0B4753A786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34" name="object 9">
            <a:extLst>
              <a:ext uri="{FF2B5EF4-FFF2-40B4-BE49-F238E27FC236}">
                <a16:creationId xmlns:a16="http://schemas.microsoft.com/office/drawing/2014/main" id="{B4BB3465-68C6-34B7-CD86-40F4C08B64C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44434"/>
            <a:ext cx="3952874" cy="7425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727623" y="2839508"/>
            <a:ext cx="9906000" cy="7032694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b="0" dirty="0"/>
              <a:t>Overflowing and irregularly managed garbage bins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b="0" dirty="0"/>
              <a:t>Improper waste disposal and littering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b="0" dirty="0"/>
              <a:t>Animal interference around waste bins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b="0" dirty="0"/>
              <a:t>Illegal/improper dumping in public areas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b="0" dirty="0"/>
              <a:t>Limited real-time information for waste collection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b="0" dirty="0"/>
              <a:t>Inefficient communication between the public and garbage collectors</a:t>
            </a:r>
          </a:p>
          <a:p>
            <a:pPr>
              <a:lnSpc>
                <a:spcPct val="100000"/>
              </a:lnSpc>
            </a:pPr>
            <a:endParaRPr b="0" spc="-1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45"/>
              </a:spcBef>
            </a:pPr>
            <a:endParaRPr b="0" spc="-1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375"/>
              </a:lnSpc>
            </a:pPr>
            <a:r>
              <a:rPr spc="-50" dirty="0"/>
              <a:t>2</a:t>
            </a: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652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100"/>
              </a:spcBef>
            </a:pPr>
            <a:r>
              <a:rPr spc="434" dirty="0"/>
              <a:t>Problem</a:t>
            </a:r>
            <a:r>
              <a:rPr dirty="0"/>
              <a:t> </a:t>
            </a:r>
            <a:r>
              <a:rPr spc="1210" dirty="0"/>
              <a:t>&amp;</a:t>
            </a:r>
            <a:r>
              <a:rPr spc="5" dirty="0"/>
              <a:t> </a:t>
            </a:r>
            <a:r>
              <a:rPr spc="340" dirty="0"/>
              <a:t>motivation</a:t>
            </a:r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1119F84C-A07A-E4CC-6509-60FC5D6ACA0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14" name="object 18">
            <a:extLst>
              <a:ext uri="{FF2B5EF4-FFF2-40B4-BE49-F238E27FC236}">
                <a16:creationId xmlns:a16="http://schemas.microsoft.com/office/drawing/2014/main" id="{9CCE5264-299B-6804-7C85-837EA54988C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68165C-F1CF-C8FE-823A-F9D8D2969D98}"/>
              </a:ext>
            </a:extLst>
          </p:cNvPr>
          <p:cNvSpPr txBox="1"/>
          <p:nvPr/>
        </p:nvSpPr>
        <p:spPr>
          <a:xfrm>
            <a:off x="990600" y="1866900"/>
            <a:ext cx="9067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Waste Management Challenges</a:t>
            </a:r>
            <a:endParaRPr lang="en-US" sz="3200" dirty="0">
              <a:solidFill>
                <a:srgbClr val="0066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A2AD5-DD51-7A14-B7AF-F3912103CA58}"/>
              </a:ext>
            </a:extLst>
          </p:cNvPr>
          <p:cNvSpPr txBox="1"/>
          <p:nvPr/>
        </p:nvSpPr>
        <p:spPr>
          <a:xfrm>
            <a:off x="12763500" y="2627345"/>
            <a:ext cx="9067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</a:t>
            </a:r>
            <a:endParaRPr lang="en-US" sz="3200" dirty="0">
              <a:solidFill>
                <a:srgbClr val="0066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5B5D2D-157F-CB24-2962-086186653B2D}"/>
              </a:ext>
            </a:extLst>
          </p:cNvPr>
          <p:cNvSpPr txBox="1"/>
          <p:nvPr/>
        </p:nvSpPr>
        <p:spPr>
          <a:xfrm>
            <a:off x="11277600" y="3473895"/>
            <a:ext cx="674637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Inconvenience</a:t>
            </a:r>
            <a:b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Hygiene &amp; Environmental Risks</a:t>
            </a:r>
            <a:b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Inefficient Waste Collection</a:t>
            </a:r>
            <a:b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Increased Municipal Management Effort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602930A2-9285-7FAB-069B-BDD6A7042F2F}"/>
              </a:ext>
            </a:extLst>
          </p:cNvPr>
          <p:cNvSpPr/>
          <p:nvPr/>
        </p:nvSpPr>
        <p:spPr>
          <a:xfrm>
            <a:off x="10972800" y="3695700"/>
            <a:ext cx="110577" cy="152400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8309F12E-7889-9019-9F99-E2A93622C6DF}"/>
              </a:ext>
            </a:extLst>
          </p:cNvPr>
          <p:cNvSpPr/>
          <p:nvPr/>
        </p:nvSpPr>
        <p:spPr>
          <a:xfrm>
            <a:off x="10972800" y="4610100"/>
            <a:ext cx="110577" cy="152400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663CC9B-B06B-48AD-22C8-C7255E95FD52}"/>
              </a:ext>
            </a:extLst>
          </p:cNvPr>
          <p:cNvSpPr/>
          <p:nvPr/>
        </p:nvSpPr>
        <p:spPr>
          <a:xfrm>
            <a:off x="10972800" y="5524500"/>
            <a:ext cx="110577" cy="152400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AED03E07-A11E-7D70-85C9-29013693C14F}"/>
              </a:ext>
            </a:extLst>
          </p:cNvPr>
          <p:cNvSpPr/>
          <p:nvPr/>
        </p:nvSpPr>
        <p:spPr>
          <a:xfrm>
            <a:off x="10997435" y="6438900"/>
            <a:ext cx="110577" cy="152400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object 14">
            <a:extLst>
              <a:ext uri="{FF2B5EF4-FFF2-40B4-BE49-F238E27FC236}">
                <a16:creationId xmlns:a16="http://schemas.microsoft.com/office/drawing/2014/main" id="{4DD0FC89-9001-FFED-8FE8-31F877EF4AB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1938F5-3EDD-BBE0-7FD5-F70635B297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596" y="6270883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object 14">
            <a:extLst>
              <a:ext uri="{FF2B5EF4-FFF2-40B4-BE49-F238E27FC236}">
                <a16:creationId xmlns:a16="http://schemas.microsoft.com/office/drawing/2014/main" id="{96F8496C-CFD6-881F-6856-FFECBA6F204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pic>
        <p:nvPicPr>
          <p:cNvPr id="28" name="object 9">
            <a:extLst>
              <a:ext uri="{FF2B5EF4-FFF2-40B4-BE49-F238E27FC236}">
                <a16:creationId xmlns:a16="http://schemas.microsoft.com/office/drawing/2014/main" id="{980A1FD9-FDB5-B3D2-C40F-C00CA8994C3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44434"/>
            <a:ext cx="3952874" cy="7425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72868" y="306229"/>
            <a:ext cx="16348331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Solution</a:t>
            </a:r>
            <a:r>
              <a:rPr spc="5" dirty="0"/>
              <a:t> </a:t>
            </a:r>
            <a:r>
              <a:rPr spc="565" dirty="0"/>
              <a:t>Overview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375"/>
              </a:lnSpc>
            </a:pPr>
            <a:r>
              <a:rPr spc="-50" dirty="0"/>
              <a:t>3</a:t>
            </a: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3C05FE27-D45A-B0DA-2E94-12C8E6279E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6391ADA3-728C-F216-9B22-2781B1320C2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9F905A8-19F7-6169-5850-21384D814ACC}"/>
              </a:ext>
            </a:extLst>
          </p:cNvPr>
          <p:cNvSpPr txBox="1"/>
          <p:nvPr/>
        </p:nvSpPr>
        <p:spPr>
          <a:xfrm>
            <a:off x="990600" y="1556395"/>
            <a:ext cx="15129970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65"/>
              </a:lnSpc>
            </a:pP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This research proposes a </a:t>
            </a:r>
            <a:r>
              <a:rPr lang="en-US" sz="3200" b="1" dirty="0">
                <a:solidFill>
                  <a:srgbClr val="CD641C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“Vision-based smart waste monitoring system”</a:t>
            </a:r>
            <a:r>
              <a:rPr lang="en-US" sz="3200" b="1" dirty="0">
                <a:solidFill>
                  <a:srgbClr val="1A4C46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that uses IOT devices, computer vision, and machine learning  to  improve  municipal  waste management in urban areas.</a:t>
            </a:r>
          </a:p>
          <a:p>
            <a:pPr algn="ctr">
              <a:lnSpc>
                <a:spcPts val="4687"/>
              </a:lnSpc>
            </a:pPr>
            <a:endParaRPr lang="en-US" sz="404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687"/>
              </a:lnSpc>
            </a:pPr>
            <a:endParaRPr lang="en-US" sz="404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687"/>
              </a:lnSpc>
            </a:pPr>
            <a:endParaRPr lang="en-US" sz="404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3D3CABCD-ED7F-8BB2-2A51-CAD3CB503EED}"/>
              </a:ext>
            </a:extLst>
          </p:cNvPr>
          <p:cNvSpPr txBox="1"/>
          <p:nvPr/>
        </p:nvSpPr>
        <p:spPr>
          <a:xfrm>
            <a:off x="1003300" y="4152900"/>
            <a:ext cx="15129970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/>
                <a:sym typeface="Canva Sans Bold"/>
              </a:rPr>
              <a:t>The system installs a smart monitoring device above public garbage bins to monitor waste conditions in real time.</a:t>
            </a:r>
          </a:p>
          <a:p>
            <a:pPr algn="ctr">
              <a:lnSpc>
                <a:spcPts val="5599"/>
              </a:lnSpc>
            </a:pPr>
            <a:endParaRPr lang="en-US" sz="3999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 Bold"/>
              <a:sym typeface="Canva Sans Bold"/>
            </a:endParaRPr>
          </a:p>
        </p:txBody>
      </p:sp>
      <p:grpSp>
        <p:nvGrpSpPr>
          <p:cNvPr id="25" name="object 2">
            <a:extLst>
              <a:ext uri="{FF2B5EF4-FFF2-40B4-BE49-F238E27FC236}">
                <a16:creationId xmlns:a16="http://schemas.microsoft.com/office/drawing/2014/main" id="{8158C4A6-5D29-FC68-B146-6B0C3DD7A59A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26" name="object 3">
              <a:extLst>
                <a:ext uri="{FF2B5EF4-FFF2-40B4-BE49-F238E27FC236}">
                  <a16:creationId xmlns:a16="http://schemas.microsoft.com/office/drawing/2014/main" id="{511A9302-5B23-1D76-0196-DB39D042910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27" name="object 4">
              <a:extLst>
                <a:ext uri="{FF2B5EF4-FFF2-40B4-BE49-F238E27FC236}">
                  <a16:creationId xmlns:a16="http://schemas.microsoft.com/office/drawing/2014/main" id="{A7222706-473A-6026-E7F8-F313A62E1E6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sp>
        <p:nvSpPr>
          <p:cNvPr id="4" name="TextBox 13">
            <a:extLst>
              <a:ext uri="{FF2B5EF4-FFF2-40B4-BE49-F238E27FC236}">
                <a16:creationId xmlns:a16="http://schemas.microsoft.com/office/drawing/2014/main" id="{CB2AB598-37C3-21C1-1694-FAA04ADDAEA8}"/>
              </a:ext>
            </a:extLst>
          </p:cNvPr>
          <p:cNvSpPr txBox="1"/>
          <p:nvPr/>
        </p:nvSpPr>
        <p:spPr>
          <a:xfrm>
            <a:off x="990600" y="5973066"/>
            <a:ext cx="1512997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The device capture images and environmental data, process them using AI models, and sends the results to a cloud based monitoring system.</a:t>
            </a:r>
            <a:endParaRPr lang="en-US" sz="3999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 Bold"/>
              <a:sym typeface="Canva Sans Bold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4DD4A5F-C019-5009-6BC3-9BFA6D9A8F82}"/>
              </a:ext>
            </a:extLst>
          </p:cNvPr>
          <p:cNvSpPr/>
          <p:nvPr/>
        </p:nvSpPr>
        <p:spPr>
          <a:xfrm>
            <a:off x="695447" y="1866900"/>
            <a:ext cx="152400" cy="152400"/>
          </a:xfrm>
          <a:prstGeom prst="flowChartConnector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FF25D1E-3D62-A689-B720-E5C04D46E3EF}"/>
              </a:ext>
            </a:extLst>
          </p:cNvPr>
          <p:cNvSpPr/>
          <p:nvPr/>
        </p:nvSpPr>
        <p:spPr>
          <a:xfrm>
            <a:off x="685800" y="4457700"/>
            <a:ext cx="152400" cy="152400"/>
          </a:xfrm>
          <a:prstGeom prst="flowChartConnector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5120BBCA-5680-CF68-6B09-B17083DA8E00}"/>
              </a:ext>
            </a:extLst>
          </p:cNvPr>
          <p:cNvSpPr/>
          <p:nvPr/>
        </p:nvSpPr>
        <p:spPr>
          <a:xfrm>
            <a:off x="685800" y="6102729"/>
            <a:ext cx="152400" cy="152400"/>
          </a:xfrm>
          <a:prstGeom prst="flowChartConnector">
            <a:avLst/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9">
            <a:extLst>
              <a:ext uri="{FF2B5EF4-FFF2-40B4-BE49-F238E27FC236}">
                <a16:creationId xmlns:a16="http://schemas.microsoft.com/office/drawing/2014/main" id="{9AB7133A-6E1B-8478-BA82-D6A8988703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5BD18-853D-4BFD-44CC-40C0FF6B535A}"/>
              </a:ext>
            </a:extLst>
          </p:cNvPr>
          <p:cNvSpPr txBox="1"/>
          <p:nvPr/>
        </p:nvSpPr>
        <p:spPr>
          <a:xfrm>
            <a:off x="685800" y="1031779"/>
            <a:ext cx="150876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sz="4000" b="1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Goals</a:t>
            </a:r>
            <a:endParaRPr lang="en-US" b="1" dirty="0">
              <a:solidFill>
                <a:srgbClr val="00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Classify waste categories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Monitor bin capacity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Detect and deter animals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Detect and assess litter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Detect improper dumping and provide voice guidance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Assess waste-related hygiene risk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Predict future waste demand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Monitor, report and locate bins</a:t>
            </a:r>
          </a:p>
        </p:txBody>
      </p:sp>
      <p:pic>
        <p:nvPicPr>
          <p:cNvPr id="13" name="Graphic 12" descr="Settings with solid fill">
            <a:extLst>
              <a:ext uri="{FF2B5EF4-FFF2-40B4-BE49-F238E27FC236}">
                <a16:creationId xmlns:a16="http://schemas.microsoft.com/office/drawing/2014/main" id="{B71B8088-D2B8-0118-9D24-D54E41457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2913" y="1027798"/>
            <a:ext cx="914400" cy="914400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C90F1216-41EA-06DB-E126-7ACE522C7FF3}"/>
              </a:ext>
            </a:extLst>
          </p:cNvPr>
          <p:cNvSpPr txBox="1"/>
          <p:nvPr/>
        </p:nvSpPr>
        <p:spPr>
          <a:xfrm>
            <a:off x="1947861" y="5491604"/>
            <a:ext cx="16306800" cy="655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nva Sans Bold"/>
              </a:rPr>
              <a:t>Non-Functional Goals</a:t>
            </a:r>
          </a:p>
        </p:txBody>
      </p:sp>
      <p:grpSp>
        <p:nvGrpSpPr>
          <p:cNvPr id="17" name="object 2">
            <a:extLst>
              <a:ext uri="{FF2B5EF4-FFF2-40B4-BE49-F238E27FC236}">
                <a16:creationId xmlns:a16="http://schemas.microsoft.com/office/drawing/2014/main" id="{897752F3-7A5E-AA34-C7B0-7862F1CB5EA1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18" name="object 3">
              <a:extLst>
                <a:ext uri="{FF2B5EF4-FFF2-40B4-BE49-F238E27FC236}">
                  <a16:creationId xmlns:a16="http://schemas.microsoft.com/office/drawing/2014/main" id="{49EB7DCF-7AAB-B9E0-08A6-160FAC9C0B2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19" name="object 4">
              <a:extLst>
                <a:ext uri="{FF2B5EF4-FFF2-40B4-BE49-F238E27FC236}">
                  <a16:creationId xmlns:a16="http://schemas.microsoft.com/office/drawing/2014/main" id="{D9E4A250-1706-0189-2560-951E8F7C6D9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20" name="object 14">
            <a:extLst>
              <a:ext uri="{FF2B5EF4-FFF2-40B4-BE49-F238E27FC236}">
                <a16:creationId xmlns:a16="http://schemas.microsoft.com/office/drawing/2014/main" id="{FFEFB279-9460-5698-4B83-D7A370F9286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sp>
        <p:nvSpPr>
          <p:cNvPr id="21" name="object 20">
            <a:extLst>
              <a:ext uri="{FF2B5EF4-FFF2-40B4-BE49-F238E27FC236}">
                <a16:creationId xmlns:a16="http://schemas.microsoft.com/office/drawing/2014/main" id="{DD6ECCA4-764F-D6F7-7662-96CBFBA2A11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pic>
        <p:nvPicPr>
          <p:cNvPr id="23" name="Graphic 22" descr="Clipboard Checked with solid fill">
            <a:extLst>
              <a:ext uri="{FF2B5EF4-FFF2-40B4-BE49-F238E27FC236}">
                <a16:creationId xmlns:a16="http://schemas.microsoft.com/office/drawing/2014/main" id="{A3165A32-EA2E-A7BF-1440-9B4DF20E3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673167">
            <a:off x="12997319" y="5067314"/>
            <a:ext cx="1313073" cy="13130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BFFBA7C-991D-F88E-1B77-E656A47A07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501701"/>
            <a:ext cx="4762500" cy="4762500"/>
          </a:xfrm>
          <a:prstGeom prst="rect">
            <a:avLst/>
          </a:prstGeom>
        </p:spPr>
      </p:pic>
      <p:pic>
        <p:nvPicPr>
          <p:cNvPr id="28" name="object 9">
            <a:extLst>
              <a:ext uri="{FF2B5EF4-FFF2-40B4-BE49-F238E27FC236}">
                <a16:creationId xmlns:a16="http://schemas.microsoft.com/office/drawing/2014/main" id="{D4A677ED-CA73-A5A5-0DF0-4D6F246C89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14463713" y="594993"/>
            <a:ext cx="4429124" cy="3219449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63C6D8E-C48E-777A-A606-5E396A54C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955006"/>
              </p:ext>
            </p:extLst>
          </p:nvPr>
        </p:nvGraphicFramePr>
        <p:xfrm>
          <a:off x="2209800" y="6354986"/>
          <a:ext cx="14217000" cy="26450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54250">
                  <a:extLst>
                    <a:ext uri="{9D8B030D-6E8A-4147-A177-3AD203B41FA5}">
                      <a16:colId xmlns:a16="http://schemas.microsoft.com/office/drawing/2014/main" val="3625860298"/>
                    </a:ext>
                  </a:extLst>
                </a:gridCol>
                <a:gridCol w="3554250">
                  <a:extLst>
                    <a:ext uri="{9D8B030D-6E8A-4147-A177-3AD203B41FA5}">
                      <a16:colId xmlns:a16="http://schemas.microsoft.com/office/drawing/2014/main" val="2164457874"/>
                    </a:ext>
                  </a:extLst>
                </a:gridCol>
                <a:gridCol w="3554250">
                  <a:extLst>
                    <a:ext uri="{9D8B030D-6E8A-4147-A177-3AD203B41FA5}">
                      <a16:colId xmlns:a16="http://schemas.microsoft.com/office/drawing/2014/main" val="4179153353"/>
                    </a:ext>
                  </a:extLst>
                </a:gridCol>
                <a:gridCol w="3554250">
                  <a:extLst>
                    <a:ext uri="{9D8B030D-6E8A-4147-A177-3AD203B41FA5}">
                      <a16:colId xmlns:a16="http://schemas.microsoft.com/office/drawing/2014/main" val="2680178808"/>
                    </a:ext>
                  </a:extLst>
                </a:gridCol>
              </a:tblGrid>
              <a:tr h="721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Responsiveness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775224"/>
                  </a:ext>
                </a:extLst>
              </a:tr>
              <a:tr h="1923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Near-real-time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Reliable component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Simple user interfaces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Multi-bin &amp; multi-location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35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16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object 2">
            <a:extLst>
              <a:ext uri="{FF2B5EF4-FFF2-40B4-BE49-F238E27FC236}">
                <a16:creationId xmlns:a16="http://schemas.microsoft.com/office/drawing/2014/main" id="{FB052579-1A7E-6BF3-E246-565FA7365208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13" name="object 3">
              <a:extLst>
                <a:ext uri="{FF2B5EF4-FFF2-40B4-BE49-F238E27FC236}">
                  <a16:creationId xmlns:a16="http://schemas.microsoft.com/office/drawing/2014/main" id="{82266857-0E34-ED51-479B-1A2C2F3F22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16" name="object 4">
              <a:extLst>
                <a:ext uri="{FF2B5EF4-FFF2-40B4-BE49-F238E27FC236}">
                  <a16:creationId xmlns:a16="http://schemas.microsoft.com/office/drawing/2014/main" id="{F97C4A34-4A00-3DAF-654B-A54DD6218C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17" name="object 9">
            <a:extLst>
              <a:ext uri="{FF2B5EF4-FFF2-40B4-BE49-F238E27FC236}">
                <a16:creationId xmlns:a16="http://schemas.microsoft.com/office/drawing/2014/main" id="{9211E2B5-D944-BC64-1757-AB159D48B3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18" name="object 14">
            <a:extLst>
              <a:ext uri="{FF2B5EF4-FFF2-40B4-BE49-F238E27FC236}">
                <a16:creationId xmlns:a16="http://schemas.microsoft.com/office/drawing/2014/main" id="{7CD0AAB7-1187-AE6A-9F76-0E748E2FB1F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44434"/>
            <a:ext cx="3952874" cy="74256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375"/>
              </a:lnSpc>
            </a:pPr>
            <a:r>
              <a:rPr spc="-50" dirty="0"/>
              <a:t>4</a:t>
            </a: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872869" y="306229"/>
            <a:ext cx="12773280" cy="843166"/>
          </a:xfrm>
          <a:prstGeom prst="rect">
            <a:avLst/>
          </a:prstGeom>
        </p:spPr>
        <p:txBody>
          <a:bodyPr vert="horz" wrap="square" lIns="0" tIns="73012" rIns="0" bIns="0" rtlCol="0">
            <a:spAutoFit/>
          </a:bodyPr>
          <a:lstStyle/>
          <a:p>
            <a:pPr algn="ctr"/>
            <a:r>
              <a:rPr lang="en-US" dirty="0"/>
              <a:t>Research Gap &amp; Objectives</a:t>
            </a:r>
          </a:p>
        </p:txBody>
      </p:sp>
      <p:sp>
        <p:nvSpPr>
          <p:cNvPr id="14" name="object 20">
            <a:extLst>
              <a:ext uri="{FF2B5EF4-FFF2-40B4-BE49-F238E27FC236}">
                <a16:creationId xmlns:a16="http://schemas.microsoft.com/office/drawing/2014/main" id="{64392950-D767-F742-F1CE-04CC260A1CB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46692722-E6A0-FCEF-DB95-C2FF5B2EA72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B784E82-DA52-35B8-CE8E-821699C4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39423"/>
              </p:ext>
            </p:extLst>
          </p:nvPr>
        </p:nvGraphicFramePr>
        <p:xfrm>
          <a:off x="872868" y="1168830"/>
          <a:ext cx="16348332" cy="831006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449444">
                  <a:extLst>
                    <a:ext uri="{9D8B030D-6E8A-4147-A177-3AD203B41FA5}">
                      <a16:colId xmlns:a16="http://schemas.microsoft.com/office/drawing/2014/main" val="251331227"/>
                    </a:ext>
                  </a:extLst>
                </a:gridCol>
                <a:gridCol w="5449444">
                  <a:extLst>
                    <a:ext uri="{9D8B030D-6E8A-4147-A177-3AD203B41FA5}">
                      <a16:colId xmlns:a16="http://schemas.microsoft.com/office/drawing/2014/main" val="3228304293"/>
                    </a:ext>
                  </a:extLst>
                </a:gridCol>
                <a:gridCol w="5449444">
                  <a:extLst>
                    <a:ext uri="{9D8B030D-6E8A-4147-A177-3AD203B41FA5}">
                      <a16:colId xmlns:a16="http://schemas.microsoft.com/office/drawing/2014/main" val="3765922122"/>
                    </a:ext>
                  </a:extLst>
                </a:gridCol>
              </a:tblGrid>
              <a:tr h="50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Existing / Typical Solutions</a:t>
                      </a:r>
                      <a:endParaRPr lang="en-US" sz="2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solidFill>
                            <a:schemeClr val="bg1"/>
                          </a:solidFill>
                        </a:rPr>
                        <a:t>VisionWaste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 Solution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>
                    <a:solidFill>
                      <a:srgbClr val="00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17125"/>
                  </a:ext>
                </a:extLst>
              </a:tr>
              <a:tr h="1259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Waste Classification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Focuses mainly on identifying waste categories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AI-based organic/non-organic classification integrated with waste monitoring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2449636009"/>
                  </a:ext>
                </a:extLst>
              </a:tr>
              <a:tr h="1259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Bin Fill-Level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Monitors bin capacity, often as a standalone function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Vision-based fill-level detection integrated with collection information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2207826111"/>
                  </a:ext>
                </a:extLst>
              </a:tr>
              <a:tr h="88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Animal Interference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Detection or monitoring without automated response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Animal detection with automated deterrence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1370037553"/>
                  </a:ext>
                </a:extLst>
              </a:tr>
              <a:tr h="88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Litter Monitoring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Limited identification of surrounding litter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Litter detection with severity assessment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1376666824"/>
                  </a:ext>
                </a:extLst>
              </a:tr>
              <a:tr h="88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Illegal Dumping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CCTV/surveillance with limited waste-specific response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Human activity detection with automated voice guidance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1678572003"/>
                  </a:ext>
                </a:extLst>
              </a:tr>
              <a:tr h="88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Waste &amp; Hygiene Prediction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Reactive monitoring based on current conditions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Hygienic risk assessment + waste demand forecasting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629421070"/>
                  </a:ext>
                </a:extLst>
              </a:tr>
              <a:tr h="88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Public &amp; Collector Support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Limited interaction with smart-bin systems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Passenger + garbage collector mobile applications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2740936789"/>
                  </a:ext>
                </a:extLst>
              </a:tr>
              <a:tr h="88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System Integration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Separate/single-purpose solutions</a:t>
                      </a:r>
                      <a:endParaRPr lang="en-US" sz="2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Integrated AI + IoT + Cloud + Web + Mobile platform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87337" marR="87337" marT="43668" marB="43668" anchor="ctr"/>
                </a:tc>
                <a:extLst>
                  <a:ext uri="{0D108BD9-81ED-4DB2-BD59-A6C34878D82A}">
                    <a16:rowId xmlns:a16="http://schemas.microsoft.com/office/drawing/2014/main" val="23560785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object 2">
            <a:extLst>
              <a:ext uri="{FF2B5EF4-FFF2-40B4-BE49-F238E27FC236}">
                <a16:creationId xmlns:a16="http://schemas.microsoft.com/office/drawing/2014/main" id="{86F6AF85-16A9-BAFD-1FDD-951364F903E9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28" name="object 3">
              <a:extLst>
                <a:ext uri="{FF2B5EF4-FFF2-40B4-BE49-F238E27FC236}">
                  <a16:creationId xmlns:a16="http://schemas.microsoft.com/office/drawing/2014/main" id="{8621334E-F514-16F5-A4B4-0F41F91D1A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29" name="object 4">
              <a:extLst>
                <a:ext uri="{FF2B5EF4-FFF2-40B4-BE49-F238E27FC236}">
                  <a16:creationId xmlns:a16="http://schemas.microsoft.com/office/drawing/2014/main" id="{CE7935D1-DE64-A47B-4BAB-408AA8867CF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30" name="object 9">
            <a:extLst>
              <a:ext uri="{FF2B5EF4-FFF2-40B4-BE49-F238E27FC236}">
                <a16:creationId xmlns:a16="http://schemas.microsoft.com/office/drawing/2014/main" id="{ED6F172F-26C8-FF01-7A49-EC6592CE4B8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31" name="object 14">
            <a:extLst>
              <a:ext uri="{FF2B5EF4-FFF2-40B4-BE49-F238E27FC236}">
                <a16:creationId xmlns:a16="http://schemas.microsoft.com/office/drawing/2014/main" id="{2494F33B-E5E6-D8C9-8F6C-697DDEFC24F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pic>
        <p:nvPicPr>
          <p:cNvPr id="24" name="object 2">
            <a:extLst>
              <a:ext uri="{FF2B5EF4-FFF2-40B4-BE49-F238E27FC236}">
                <a16:creationId xmlns:a16="http://schemas.microsoft.com/office/drawing/2014/main" id="{4EE25F68-7E5F-38E1-A8A3-8670EF16A36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44434"/>
            <a:ext cx="3952874" cy="7425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3B5655-7728-05F4-C1A9-6E5C5BF2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69" y="306229"/>
            <a:ext cx="12773280" cy="769441"/>
          </a:xfrm>
        </p:spPr>
        <p:txBody>
          <a:bodyPr/>
          <a:lstStyle/>
          <a:p>
            <a:pPr algn="ctr"/>
            <a:r>
              <a:rPr lang="en-US" dirty="0"/>
              <a:t>Main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F2D2E-E351-CF9A-A6D7-C4190F0A4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485900"/>
            <a:ext cx="11103610" cy="8309967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Classify waste using computer vision</a:t>
            </a:r>
          </a:p>
          <a:p>
            <a:pPr lvl="0"/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Monitor bin fill level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Detect and deter animals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Detect litter severity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Detect improper human activity and provide voice guidance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Predict hygienic risk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Forecast future waste demand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/>
              <a:t>Provide web-based monitoring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Support passengers and garbage collectors through mobile applications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14A424-EFCF-FE23-F3C1-BC96316627A7}"/>
              </a:ext>
            </a:extLst>
          </p:cNvPr>
          <p:cNvSpPr/>
          <p:nvPr/>
        </p:nvSpPr>
        <p:spPr>
          <a:xfrm>
            <a:off x="11963400" y="1562100"/>
            <a:ext cx="5181600" cy="646331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DETECT</a:t>
            </a:r>
            <a:endParaRPr lang="en-US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B3421-958A-73B3-74D5-B0BAED69E1FC}"/>
              </a:ext>
            </a:extLst>
          </p:cNvPr>
          <p:cNvSpPr/>
          <p:nvPr/>
        </p:nvSpPr>
        <p:spPr>
          <a:xfrm>
            <a:off x="11963400" y="3162300"/>
            <a:ext cx="5181600" cy="646331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ANALYZE</a:t>
            </a:r>
            <a:endParaRPr lang="en-US" sz="2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F54105-4587-EBBE-DEE8-2E0EAB74E53A}"/>
              </a:ext>
            </a:extLst>
          </p:cNvPr>
          <p:cNvSpPr/>
          <p:nvPr/>
        </p:nvSpPr>
        <p:spPr>
          <a:xfrm>
            <a:off x="11963400" y="4762500"/>
            <a:ext cx="5181600" cy="646331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PREDICT</a:t>
            </a:r>
            <a:endParaRPr lang="en-US" sz="2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342996-0919-A5C4-CEAF-D076CB0A19C9}"/>
              </a:ext>
            </a:extLst>
          </p:cNvPr>
          <p:cNvSpPr/>
          <p:nvPr/>
        </p:nvSpPr>
        <p:spPr>
          <a:xfrm>
            <a:off x="11963400" y="6362700"/>
            <a:ext cx="5181600" cy="646331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RESPOND </a:t>
            </a:r>
            <a:endParaRPr lang="en-US" sz="4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47949A-1F9A-F2AB-8111-9C98AFAA59D4}"/>
              </a:ext>
            </a:extLst>
          </p:cNvPr>
          <p:cNvSpPr/>
          <p:nvPr/>
        </p:nvSpPr>
        <p:spPr>
          <a:xfrm>
            <a:off x="11963400" y="8039100"/>
            <a:ext cx="5181600" cy="646331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SUPPORT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18" name="Arrow: Curved Right 17">
            <a:extLst>
              <a:ext uri="{FF2B5EF4-FFF2-40B4-BE49-F238E27FC236}">
                <a16:creationId xmlns:a16="http://schemas.microsoft.com/office/drawing/2014/main" id="{2254FD72-E1B0-7BE1-3207-F06948FB4A56}"/>
              </a:ext>
            </a:extLst>
          </p:cNvPr>
          <p:cNvSpPr/>
          <p:nvPr/>
        </p:nvSpPr>
        <p:spPr>
          <a:xfrm>
            <a:off x="13646149" y="2208431"/>
            <a:ext cx="609600" cy="953869"/>
          </a:xfrm>
          <a:prstGeom prst="curvedRigh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urved Right 19">
            <a:extLst>
              <a:ext uri="{FF2B5EF4-FFF2-40B4-BE49-F238E27FC236}">
                <a16:creationId xmlns:a16="http://schemas.microsoft.com/office/drawing/2014/main" id="{462384A2-D02B-4EFD-862D-F7CFFE839534}"/>
              </a:ext>
            </a:extLst>
          </p:cNvPr>
          <p:cNvSpPr/>
          <p:nvPr/>
        </p:nvSpPr>
        <p:spPr>
          <a:xfrm>
            <a:off x="13646149" y="5448300"/>
            <a:ext cx="609600" cy="953869"/>
          </a:xfrm>
          <a:prstGeom prst="curvedRigh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urved Left 20">
            <a:extLst>
              <a:ext uri="{FF2B5EF4-FFF2-40B4-BE49-F238E27FC236}">
                <a16:creationId xmlns:a16="http://schemas.microsoft.com/office/drawing/2014/main" id="{19A0BABA-B0CC-E6C8-E0DA-C5AB29332BA2}"/>
              </a:ext>
            </a:extLst>
          </p:cNvPr>
          <p:cNvSpPr/>
          <p:nvPr/>
        </p:nvSpPr>
        <p:spPr>
          <a:xfrm>
            <a:off x="15087600" y="7048500"/>
            <a:ext cx="685800" cy="1030069"/>
          </a:xfrm>
          <a:prstGeom prst="curvedLef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urved Left 22">
            <a:extLst>
              <a:ext uri="{FF2B5EF4-FFF2-40B4-BE49-F238E27FC236}">
                <a16:creationId xmlns:a16="http://schemas.microsoft.com/office/drawing/2014/main" id="{DCA9BA54-29B9-554C-62F2-2BBC88AA67E1}"/>
              </a:ext>
            </a:extLst>
          </p:cNvPr>
          <p:cNvSpPr/>
          <p:nvPr/>
        </p:nvSpPr>
        <p:spPr>
          <a:xfrm>
            <a:off x="14859000" y="3771900"/>
            <a:ext cx="685800" cy="1030069"/>
          </a:xfrm>
          <a:prstGeom prst="curvedLef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36556CA0-9401-B7C3-8417-A274E976206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20F3CD9C-D360-DA31-033C-345413A023E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</p:spTree>
    <p:extLst>
      <p:ext uri="{BB962C8B-B14F-4D97-AF65-F5344CB8AC3E}">
        <p14:creationId xmlns:p14="http://schemas.microsoft.com/office/powerpoint/2010/main" val="304171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9">
            <a:extLst>
              <a:ext uri="{FF2B5EF4-FFF2-40B4-BE49-F238E27FC236}">
                <a16:creationId xmlns:a16="http://schemas.microsoft.com/office/drawing/2014/main" id="{ABACCE4A-8148-FE56-B08C-803E56B086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grpSp>
        <p:nvGrpSpPr>
          <p:cNvPr id="61" name="object 2">
            <a:extLst>
              <a:ext uri="{FF2B5EF4-FFF2-40B4-BE49-F238E27FC236}">
                <a16:creationId xmlns:a16="http://schemas.microsoft.com/office/drawing/2014/main" id="{9D06BAA1-413A-AA07-BC42-40C763F42AA7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62" name="object 3">
              <a:extLst>
                <a:ext uri="{FF2B5EF4-FFF2-40B4-BE49-F238E27FC236}">
                  <a16:creationId xmlns:a16="http://schemas.microsoft.com/office/drawing/2014/main" id="{A71A6EA1-F511-3B48-AAD5-62A2F352EEF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63" name="object 4">
              <a:extLst>
                <a:ext uri="{FF2B5EF4-FFF2-40B4-BE49-F238E27FC236}">
                  <a16:creationId xmlns:a16="http://schemas.microsoft.com/office/drawing/2014/main" id="{98AE725C-3B5C-475A-2119-B033F369CD9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sp>
        <p:nvSpPr>
          <p:cNvPr id="55" name="object 2" descr="$PPTXTitle">
            <a:extLst>
              <a:ext uri="{FF2B5EF4-FFF2-40B4-BE49-F238E27FC236}">
                <a16:creationId xmlns:a16="http://schemas.microsoft.com/office/drawing/2014/main" id="{F7D419B3-8D24-3663-AF42-2876F2582097}"/>
              </a:ext>
            </a:extLst>
          </p:cNvPr>
          <p:cNvSpPr txBox="1">
            <a:spLocks/>
          </p:cNvSpPr>
          <p:nvPr/>
        </p:nvSpPr>
        <p:spPr>
          <a:xfrm>
            <a:off x="1016000" y="437150"/>
            <a:ext cx="14147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5400" b="1" spc="310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  <a:r>
              <a:rPr lang="en-US" sz="5400" b="1" spc="5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400" b="1" spc="425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Diagram</a:t>
            </a:r>
            <a:endParaRPr lang="en-US" sz="5400" b="1" spc="355" dirty="0">
              <a:solidFill>
                <a:srgbClr val="00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6" name="object 2">
            <a:extLst>
              <a:ext uri="{FF2B5EF4-FFF2-40B4-BE49-F238E27FC236}">
                <a16:creationId xmlns:a16="http://schemas.microsoft.com/office/drawing/2014/main" id="{B64B6DAA-2E42-C280-2B2E-159D7074B9B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44434"/>
            <a:ext cx="3952874" cy="742565"/>
          </a:xfrm>
          <a:prstGeom prst="rect">
            <a:avLst/>
          </a:prstGeom>
        </p:spPr>
      </p:pic>
      <p:sp>
        <p:nvSpPr>
          <p:cNvPr id="57" name="object 20">
            <a:extLst>
              <a:ext uri="{FF2B5EF4-FFF2-40B4-BE49-F238E27FC236}">
                <a16:creationId xmlns:a16="http://schemas.microsoft.com/office/drawing/2014/main" id="{68B4751C-C56F-D8F5-B2E8-7C9F49E584B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pic>
        <p:nvPicPr>
          <p:cNvPr id="65" name="object 14">
            <a:extLst>
              <a:ext uri="{FF2B5EF4-FFF2-40B4-BE49-F238E27FC236}">
                <a16:creationId xmlns:a16="http://schemas.microsoft.com/office/drawing/2014/main" id="{911C6C3C-ED0D-50F4-3E7E-BF968027C31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sp>
        <p:nvSpPr>
          <p:cNvPr id="58" name="object 18">
            <a:extLst>
              <a:ext uri="{FF2B5EF4-FFF2-40B4-BE49-F238E27FC236}">
                <a16:creationId xmlns:a16="http://schemas.microsoft.com/office/drawing/2014/main" id="{2CBD9874-A75E-ED8C-70D1-C0A170F5A99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8E43CC-1A5E-BA49-F1E8-983EE20A90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63456"/>
            <a:ext cx="10382869" cy="8831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954CA6-BCF0-5F08-386C-D1A10756B9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2915499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00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EBBBEAC6-35D7-719E-F66C-C44F5A5D0801}"/>
              </a:ext>
            </a:extLst>
          </p:cNvPr>
          <p:cNvSpPr txBox="1">
            <a:spLocks/>
          </p:cNvSpPr>
          <p:nvPr/>
        </p:nvSpPr>
        <p:spPr>
          <a:xfrm>
            <a:off x="1016000" y="437150"/>
            <a:ext cx="14147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5400" b="1" spc="310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  <a:r>
              <a:rPr lang="en-US" sz="5400" b="1" spc="5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400" b="1" spc="425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Diagram</a:t>
            </a:r>
            <a:endParaRPr lang="en-US" sz="5400" b="1" spc="355" dirty="0">
              <a:solidFill>
                <a:srgbClr val="00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7C2233-22FD-ACF1-FD88-7C83D1B7C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4"/>
          <a:stretch>
            <a:fillRect/>
          </a:stretch>
        </p:blipFill>
        <p:spPr>
          <a:xfrm>
            <a:off x="1016000" y="1313386"/>
            <a:ext cx="15735300" cy="8330453"/>
          </a:xfrm>
          <a:prstGeom prst="rect">
            <a:avLst/>
          </a:prstGeom>
        </p:spPr>
      </p:pic>
      <p:sp>
        <p:nvSpPr>
          <p:cNvPr id="6" name="object 20">
            <a:extLst>
              <a:ext uri="{FF2B5EF4-FFF2-40B4-BE49-F238E27FC236}">
                <a16:creationId xmlns:a16="http://schemas.microsoft.com/office/drawing/2014/main" id="{6E75F3B5-086C-B646-A0D2-6FDE7DCD310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55EBFB41-1EFF-82D0-466D-472CE01D2A5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44434"/>
            <a:ext cx="3952874" cy="742565"/>
          </a:xfrm>
          <a:prstGeom prst="rect">
            <a:avLst/>
          </a:prstGeom>
        </p:spPr>
      </p:pic>
      <p:sp>
        <p:nvSpPr>
          <p:cNvPr id="9" name="object 18">
            <a:extLst>
              <a:ext uri="{FF2B5EF4-FFF2-40B4-BE49-F238E27FC236}">
                <a16:creationId xmlns:a16="http://schemas.microsoft.com/office/drawing/2014/main" id="{AD9662B3-AC7C-41B0-E35F-40EA43F8DE0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66EBF234-A562-7DA1-06E5-D1DCB439BD2C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1A4F99BF-E8BC-C476-3099-77EC824627F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5F281905-1E3E-3486-6E01-759CD93DC43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48E80978-D182-5FF7-4AEC-80E37C35786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08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ject 14">
            <a:extLst>
              <a:ext uri="{FF2B5EF4-FFF2-40B4-BE49-F238E27FC236}">
                <a16:creationId xmlns:a16="http://schemas.microsoft.com/office/drawing/2014/main" id="{D7AA61B1-F17C-DD22-7102-9A31E6EC85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pic>
        <p:nvPicPr>
          <p:cNvPr id="25" name="object 9">
            <a:extLst>
              <a:ext uri="{FF2B5EF4-FFF2-40B4-BE49-F238E27FC236}">
                <a16:creationId xmlns:a16="http://schemas.microsoft.com/office/drawing/2014/main" id="{7BF7BDF2-2216-D6F7-0A3C-74DCA00D80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544434"/>
            <a:ext cx="3933824" cy="7425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9127" y="1844157"/>
            <a:ext cx="16090900" cy="5558573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endParaRPr lang="en-US" sz="3000" b="1" spc="-10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Waste Classification + Hygienic Risk + Animal Detection &amp; Deterrence -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K.U.I.C. Ranaweera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Bin Fill-Level Detection + Passenger &amp; Garbage Collector Mobile Application -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E.A.C.S. Edirisinghe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Litter Severity Detection + Human Detection &amp; Voice Deterrence -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M.J.N. Ranasinghe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Sri Lankan Calendar-Aware Waste Forecasting -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H.M.A.M. Herath </a:t>
            </a:r>
          </a:p>
          <a:p>
            <a:pPr marL="27940">
              <a:lnSpc>
                <a:spcPct val="100000"/>
              </a:lnSpc>
            </a:pPr>
            <a:endParaRPr lang="en-US" sz="30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375"/>
              </a:lnSpc>
            </a:pPr>
            <a:r>
              <a:rPr spc="-50" dirty="0"/>
              <a:t>6</a:t>
            </a: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91E9E9A2-A334-640A-B6AB-6FAC2891027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AF98F3C8-4853-7BB5-1064-584EE8D76CE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grpSp>
        <p:nvGrpSpPr>
          <p:cNvPr id="22" name="object 2">
            <a:extLst>
              <a:ext uri="{FF2B5EF4-FFF2-40B4-BE49-F238E27FC236}">
                <a16:creationId xmlns:a16="http://schemas.microsoft.com/office/drawing/2014/main" id="{68C3A0FA-C363-4E04-5DAA-22048CFE0F81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23" name="object 3">
              <a:extLst>
                <a:ext uri="{FF2B5EF4-FFF2-40B4-BE49-F238E27FC236}">
                  <a16:creationId xmlns:a16="http://schemas.microsoft.com/office/drawing/2014/main" id="{0ABF543A-12BC-0EAA-A8AE-C7BCC12DF0F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24" name="object 4">
              <a:extLst>
                <a:ext uri="{FF2B5EF4-FFF2-40B4-BE49-F238E27FC236}">
                  <a16:creationId xmlns:a16="http://schemas.microsoft.com/office/drawing/2014/main" id="{9F251D0C-43BC-DE97-7166-5F9285B7A2A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F9FDD460-DE4A-32F0-C05D-3CA343A80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68" y="306229"/>
            <a:ext cx="16272131" cy="2308324"/>
          </a:xfrm>
        </p:spPr>
        <p:txBody>
          <a:bodyPr/>
          <a:lstStyle/>
          <a:p>
            <a:r>
              <a:rPr lang="en-US" dirty="0"/>
              <a:t>Completed Components &amp; Research Contributions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object 2">
            <a:extLst>
              <a:ext uri="{FF2B5EF4-FFF2-40B4-BE49-F238E27FC236}">
                <a16:creationId xmlns:a16="http://schemas.microsoft.com/office/drawing/2014/main" id="{10086D12-64D0-97CD-8FB3-690CDB8FFF31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27" name="object 3">
              <a:extLst>
                <a:ext uri="{FF2B5EF4-FFF2-40B4-BE49-F238E27FC236}">
                  <a16:creationId xmlns:a16="http://schemas.microsoft.com/office/drawing/2014/main" id="{E82EF7E3-3EA6-5BD3-AAAE-CEA0EE886C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28" name="object 4">
              <a:extLst>
                <a:ext uri="{FF2B5EF4-FFF2-40B4-BE49-F238E27FC236}">
                  <a16:creationId xmlns:a16="http://schemas.microsoft.com/office/drawing/2014/main" id="{1158E64B-214F-E238-248A-A682B27A26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29" name="object 9">
            <a:extLst>
              <a:ext uri="{FF2B5EF4-FFF2-40B4-BE49-F238E27FC236}">
                <a16:creationId xmlns:a16="http://schemas.microsoft.com/office/drawing/2014/main" id="{EF26FF4F-46A5-89F5-9A4D-33ED5C75BBE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30" name="object 14">
            <a:extLst>
              <a:ext uri="{FF2B5EF4-FFF2-40B4-BE49-F238E27FC236}">
                <a16:creationId xmlns:a16="http://schemas.microsoft.com/office/drawing/2014/main" id="{8B34683C-0716-2235-5647-EF1A4EE16FF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218" y="1655762"/>
            <a:ext cx="123825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218" y="2417762"/>
            <a:ext cx="123825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218" y="3876676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44434"/>
            <a:ext cx="3933824" cy="74256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359" rIns="0" bIns="0" rtlCol="0">
            <a:spAutoFit/>
          </a:bodyPr>
          <a:lstStyle/>
          <a:p>
            <a:pPr marL="4347210">
              <a:lnSpc>
                <a:spcPct val="100000"/>
              </a:lnSpc>
              <a:spcBef>
                <a:spcPts val="100"/>
              </a:spcBef>
            </a:pPr>
            <a:r>
              <a:rPr spc="395" dirty="0"/>
              <a:t>Commercialization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69318" y="1443037"/>
            <a:ext cx="15920085" cy="7858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000" b="1" dirty="0">
                <a:latin typeface="Cambria"/>
                <a:cs typeface="Cambria"/>
              </a:rPr>
              <a:t>Target</a:t>
            </a:r>
            <a:r>
              <a:rPr sz="3000" b="1" spc="-1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Users</a:t>
            </a:r>
            <a:r>
              <a:rPr sz="3000" b="1" spc="-5" dirty="0">
                <a:latin typeface="Cambria"/>
                <a:cs typeface="Cambria"/>
              </a:rPr>
              <a:t> </a:t>
            </a:r>
            <a:r>
              <a:rPr lang="en-US" sz="3000" b="1" spc="-5" dirty="0">
                <a:latin typeface="Cambria"/>
                <a:cs typeface="Cambria"/>
              </a:rPr>
              <a:t>– </a:t>
            </a:r>
            <a:r>
              <a:rPr lang="en-US" sz="3000" spc="-5" dirty="0">
                <a:latin typeface="Cambria"/>
                <a:cs typeface="Cambria"/>
              </a:rPr>
              <a:t>Municipal Councils, Public Sector Organizations , Universities ,Tourism Locations</a:t>
            </a:r>
            <a:endParaRPr lang="en-US" sz="1800" dirty="0"/>
          </a:p>
          <a:p>
            <a:pPr marL="12700" marR="326390">
              <a:lnSpc>
                <a:spcPct val="100000"/>
              </a:lnSpc>
              <a:spcBef>
                <a:spcPts val="3000"/>
              </a:spcBef>
            </a:pPr>
            <a:r>
              <a:rPr sz="3000" b="1" dirty="0">
                <a:latin typeface="Cambria"/>
                <a:cs typeface="Cambria"/>
              </a:rPr>
              <a:t>Value</a:t>
            </a:r>
            <a:r>
              <a:rPr sz="3000" b="1" spc="-3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Proposition</a:t>
            </a:r>
            <a:r>
              <a:rPr sz="3000" b="1" spc="-3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lang="en-US" sz="3000" spc="-20" dirty="0">
                <a:latin typeface="Cambria"/>
                <a:cs typeface="Cambria"/>
              </a:rPr>
              <a:t>Detect waste problems early,</a:t>
            </a:r>
            <a:r>
              <a:rPr lang="en-US" sz="1800" b="1" dirty="0"/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support efficient collection, reduce public inconvenience, and enable automated responses.</a:t>
            </a:r>
          </a:p>
          <a:p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Deployment Roadmap –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Prototype</a:t>
            </a:r>
            <a:r>
              <a:rPr lang="en-US" sz="1800" dirty="0"/>
              <a:t>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Pilot Deployment      Municipal Deployment      Multi-location Deployment             Commercial Smart-waste Platform</a:t>
            </a:r>
          </a:p>
          <a:p>
            <a:endParaRPr lang="en-US" sz="1800" dirty="0"/>
          </a:p>
          <a:p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Business Opportunity –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Smart monitoring + AI analytics + automated deterrence + citizen/collector support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     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</a:pPr>
            <a:endParaRPr sz="2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50"/>
              </a:spcBef>
            </a:pPr>
            <a:endParaRPr sz="2500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375"/>
              </a:lnSpc>
            </a:pPr>
            <a:r>
              <a:rPr spc="-50" dirty="0"/>
              <a:t>7</a:t>
            </a: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2594461B-BC0F-34BA-35B1-14B8079926C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1C170762-B585-8506-2B84-438DC92EC96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F690FD-010F-C8EE-2DC6-B9E0680FB705}"/>
              </a:ext>
            </a:extLst>
          </p:cNvPr>
          <p:cNvCxnSpPr/>
          <p:nvPr/>
        </p:nvCxnSpPr>
        <p:spPr>
          <a:xfrm>
            <a:off x="7086600" y="3924300"/>
            <a:ext cx="381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48DC73-4ED7-CB87-944E-03B65701ACC3}"/>
              </a:ext>
            </a:extLst>
          </p:cNvPr>
          <p:cNvCxnSpPr/>
          <p:nvPr/>
        </p:nvCxnSpPr>
        <p:spPr>
          <a:xfrm>
            <a:off x="14554200" y="3924300"/>
            <a:ext cx="381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DBAF90-A39D-ED86-2F76-7E670653B050}"/>
              </a:ext>
            </a:extLst>
          </p:cNvPr>
          <p:cNvCxnSpPr/>
          <p:nvPr/>
        </p:nvCxnSpPr>
        <p:spPr>
          <a:xfrm>
            <a:off x="10439400" y="3924300"/>
            <a:ext cx="381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EFEF3D-BFA6-0DCB-A48B-E4411C0BAFE7}"/>
              </a:ext>
            </a:extLst>
          </p:cNvPr>
          <p:cNvCxnSpPr/>
          <p:nvPr/>
        </p:nvCxnSpPr>
        <p:spPr>
          <a:xfrm>
            <a:off x="4876800" y="4381500"/>
            <a:ext cx="381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object 4">
            <a:extLst>
              <a:ext uri="{FF2B5EF4-FFF2-40B4-BE49-F238E27FC236}">
                <a16:creationId xmlns:a16="http://schemas.microsoft.com/office/drawing/2014/main" id="{672FE693-0810-3DAA-5775-0C80A6015EC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2869" y="5040570"/>
            <a:ext cx="123825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2">
            <a:extLst>
              <a:ext uri="{FF2B5EF4-FFF2-40B4-BE49-F238E27FC236}">
                <a16:creationId xmlns:a16="http://schemas.microsoft.com/office/drawing/2014/main" id="{B3EAC8C4-FA40-5F45-102C-A4477D4E6657}"/>
              </a:ext>
            </a:extLst>
          </p:cNvPr>
          <p:cNvGrpSpPr/>
          <p:nvPr/>
        </p:nvGrpSpPr>
        <p:grpSpPr>
          <a:xfrm>
            <a:off x="0" y="7677999"/>
            <a:ext cx="4572000" cy="2609215"/>
            <a:chOff x="0" y="7677999"/>
            <a:chExt cx="4572000" cy="2609215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8FB5249-816F-0A51-AD67-BC0D9C5A5D6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677999"/>
              <a:ext cx="4571999" cy="2609000"/>
            </a:xfrm>
            <a:prstGeom prst="rect">
              <a:avLst/>
            </a:prstGeom>
          </p:spPr>
        </p:pic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EE3188FA-CC73-F1B3-A47F-A6640DED17D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24999"/>
              <a:ext cx="3962399" cy="752474"/>
            </a:xfrm>
            <a:prstGeom prst="rect">
              <a:avLst/>
            </a:prstGeom>
          </p:spPr>
        </p:pic>
      </p:grpSp>
      <p:pic>
        <p:nvPicPr>
          <p:cNvPr id="11" name="object 9">
            <a:extLst>
              <a:ext uri="{FF2B5EF4-FFF2-40B4-BE49-F238E27FC236}">
                <a16:creationId xmlns:a16="http://schemas.microsoft.com/office/drawing/2014/main" id="{9D94940C-83B5-2874-0501-C953B2D96E4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4429124" cy="3219449"/>
          </a:xfrm>
          <a:prstGeom prst="rect">
            <a:avLst/>
          </a:prstGeom>
        </p:spPr>
      </p:pic>
      <p:pic>
        <p:nvPicPr>
          <p:cNvPr id="12" name="object 14">
            <a:extLst>
              <a:ext uri="{FF2B5EF4-FFF2-40B4-BE49-F238E27FC236}">
                <a16:creationId xmlns:a16="http://schemas.microsoft.com/office/drawing/2014/main" id="{A67DF078-5086-3801-90F9-29978B20B20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50440" y="8677126"/>
            <a:ext cx="8037559" cy="16097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CE28C-4B5E-7188-AC06-7CE842F05D9A}"/>
              </a:ext>
            </a:extLst>
          </p:cNvPr>
          <p:cNvSpPr txBox="1"/>
          <p:nvPr/>
        </p:nvSpPr>
        <p:spPr>
          <a:xfrm>
            <a:off x="5791200" y="876300"/>
            <a:ext cx="9144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spc="395" dirty="0">
                <a:solidFill>
                  <a:srgbClr val="003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b="1" dirty="0">
              <a:solidFill>
                <a:srgbClr val="0033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DDDD3-D298-ECDE-02D4-F84F09FA58D8}"/>
              </a:ext>
            </a:extLst>
          </p:cNvPr>
          <p:cNvSpPr txBox="1"/>
          <p:nvPr/>
        </p:nvSpPr>
        <p:spPr>
          <a:xfrm>
            <a:off x="2743200" y="2933700"/>
            <a:ext cx="12039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VisionWaste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transforms conventional waste-bin monitoring into an integrated system that can detect, predict, respond, and support smarter waste management.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EB7D3070-54C3-26C5-D215-B5904AA6DA4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544434"/>
            <a:ext cx="3933824" cy="742565"/>
          </a:xfrm>
          <a:prstGeom prst="rect">
            <a:avLst/>
          </a:prstGeom>
        </p:spPr>
      </p:pic>
      <p:sp>
        <p:nvSpPr>
          <p:cNvPr id="6" name="object 20">
            <a:extLst>
              <a:ext uri="{FF2B5EF4-FFF2-40B4-BE49-F238E27FC236}">
                <a16:creationId xmlns:a16="http://schemas.microsoft.com/office/drawing/2014/main" id="{FE6E633C-C5AC-E026-D4B5-5DC48798774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55327" y="9680400"/>
            <a:ext cx="245059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70" dirty="0"/>
              <a:t>R26-IT-084</a:t>
            </a:r>
            <a:endParaRPr spc="-25" dirty="0"/>
          </a:p>
        </p:txBody>
      </p:sp>
      <p:sp>
        <p:nvSpPr>
          <p:cNvPr id="7" name="object 18">
            <a:extLst>
              <a:ext uri="{FF2B5EF4-FFF2-40B4-BE49-F238E27FC236}">
                <a16:creationId xmlns:a16="http://schemas.microsoft.com/office/drawing/2014/main" id="{A6A2F7F8-D16D-F38E-4183-27161773B18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415156" y="9664865"/>
            <a:ext cx="2003236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75"/>
              </a:lnSpc>
            </a:pPr>
            <a:r>
              <a:rPr lang="en-US" spc="-10" dirty="0"/>
              <a:t>1</a:t>
            </a:r>
            <a:r>
              <a:rPr spc="-10" dirty="0"/>
              <a:t>/</a:t>
            </a:r>
            <a:r>
              <a:rPr lang="en-US" spc="-10" dirty="0"/>
              <a:t>09</a:t>
            </a:r>
            <a:r>
              <a:rPr spc="-10" dirty="0"/>
              <a:t>/2026</a:t>
            </a:r>
          </a:p>
        </p:txBody>
      </p:sp>
      <p:pic>
        <p:nvPicPr>
          <p:cNvPr id="14" name="object 9">
            <a:extLst>
              <a:ext uri="{FF2B5EF4-FFF2-40B4-BE49-F238E27FC236}">
                <a16:creationId xmlns:a16="http://schemas.microsoft.com/office/drawing/2014/main" id="{FBB8925C-8284-1958-F2F9-DA1767C07BB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 rot="5400000">
            <a:off x="14463714" y="604838"/>
            <a:ext cx="4429124" cy="321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19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7800" y="3653472"/>
            <a:ext cx="5945505" cy="298005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32535" marR="5080" indent="-1220470">
              <a:lnSpc>
                <a:spcPts val="11620"/>
              </a:lnSpc>
              <a:spcBef>
                <a:spcPts val="300"/>
              </a:spcBef>
            </a:pPr>
            <a:r>
              <a:rPr sz="9700" b="0" spc="24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9700" b="0" spc="13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700" b="0" spc="-484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9700" b="0" spc="13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700" b="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9700" b="0" spc="1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700" b="0" spc="-484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9700" b="0" spc="13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700" b="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k </a:t>
            </a:r>
            <a:r>
              <a:rPr sz="9700" b="0" spc="66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9700" b="0" spc="13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700" b="0" spc="35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9700" b="0" spc="1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700" b="0" spc="-595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endParaRPr sz="97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</TotalTime>
  <Words>666</Words>
  <Application>Microsoft Office PowerPoint</Application>
  <PresentationFormat>Custom</PresentationFormat>
  <Paragraphs>157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Cambria</vt:lpstr>
      <vt:lpstr>Canva Sans Bold</vt:lpstr>
      <vt:lpstr>Lucida Sans Unicode</vt:lpstr>
      <vt:lpstr>Tahoma</vt:lpstr>
      <vt:lpstr>Times New Roman</vt:lpstr>
      <vt:lpstr>Office Theme</vt:lpstr>
      <vt:lpstr>PowerPoint Presentation</vt:lpstr>
      <vt:lpstr>Our Team</vt:lpstr>
      <vt:lpstr>Problem &amp; motivation</vt:lpstr>
      <vt:lpstr>Solution Overview</vt:lpstr>
      <vt:lpstr>PowerPoint Presentation</vt:lpstr>
      <vt:lpstr>Research Gap &amp; Objectives</vt:lpstr>
      <vt:lpstr>Main Objectives</vt:lpstr>
      <vt:lpstr>PowerPoint Presentation</vt:lpstr>
      <vt:lpstr>PowerPoint Presentation</vt:lpstr>
      <vt:lpstr>Completed Components &amp; Research Contributions </vt:lpstr>
      <vt:lpstr>Commercialization</vt:lpstr>
      <vt:lpstr>PowerPoint Presentation</vt:lpstr>
      <vt:lpstr>T h a n k Y o 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PP2 Presentation</dc:title>
  <dc:creator>Kavin J</dc:creator>
  <cp:keywords>DAHDVIs7VZo,BAGZEmguDWg,0</cp:keywords>
  <cp:lastModifiedBy>Imashi chandima</cp:lastModifiedBy>
  <cp:revision>7</cp:revision>
  <dcterms:created xsi:type="dcterms:W3CDTF">2026-08-27T17:31:50Z</dcterms:created>
  <dcterms:modified xsi:type="dcterms:W3CDTF">2026-08-31T17:05:14Z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2026-08-27T00:00:00Z</vt:filetime>
  </property>
  <property fmtid="{D5CDD505-2E9C-101B-9397-08002B2CF9AE}" pid="6" name="Producer">
    <vt:lpwstr>Canva</vt:lpwstr>
  </property>
</Properties>
</file>